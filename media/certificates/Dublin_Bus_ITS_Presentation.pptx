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3E"/>
    <a:srgbClr val="FF5353"/>
    <a:srgbClr val="FC3904"/>
    <a:srgbClr val="FF505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886"/>
            <a:ext cx="8229600" cy="18046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Case </a:t>
            </a:r>
            <a:r>
              <a:rPr dirty="0"/>
              <a:t>Study: Dublin Bus and Intelligent Transportation Systems (ITS)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400" dirty="0" smtClean="0"/>
              <a:t>                                              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                                                </a:t>
            </a:r>
            <a:r>
              <a:rPr sz="1400" dirty="0" err="1" smtClean="0"/>
              <a:t>Perisha</a:t>
            </a:r>
            <a:r>
              <a:rPr sz="1400" dirty="0" smtClean="0"/>
              <a:t> </a:t>
            </a:r>
            <a:r>
              <a:rPr sz="1400" dirty="0" err="1"/>
              <a:t>Dharel</a:t>
            </a:r>
            <a:r>
              <a:rPr sz="1400" dirty="0"/>
              <a:t> (270629406)</a:t>
            </a:r>
          </a:p>
          <a:p>
            <a:pPr marL="0" indent="0">
              <a:buNone/>
            </a:pPr>
            <a:r>
              <a:rPr lang="en-US" sz="1400" dirty="0" smtClean="0"/>
              <a:t>                                         </a:t>
            </a:r>
            <a:r>
              <a:rPr sz="1400" dirty="0" smtClean="0"/>
              <a:t>Course</a:t>
            </a:r>
            <a:r>
              <a:rPr sz="1400" dirty="0"/>
              <a:t>: </a:t>
            </a:r>
            <a:r>
              <a:rPr sz="1400" dirty="0" smtClean="0"/>
              <a:t>MSE804</a:t>
            </a:r>
            <a:r>
              <a:rPr lang="en-US" sz="1400" dirty="0" smtClean="0"/>
              <a:t> </a:t>
            </a:r>
            <a:r>
              <a:rPr sz="1400" dirty="0" smtClean="0"/>
              <a:t>Intelligent</a:t>
            </a:r>
            <a:r>
              <a:rPr lang="en-US" sz="1400" dirty="0" smtClean="0"/>
              <a:t> </a:t>
            </a:r>
            <a:r>
              <a:rPr sz="1400" dirty="0" smtClean="0"/>
              <a:t>Transportation </a:t>
            </a:r>
            <a:r>
              <a:rPr sz="1400" dirty="0"/>
              <a:t>System</a:t>
            </a:r>
          </a:p>
          <a:p>
            <a:pPr marL="0" indent="0">
              <a:buNone/>
            </a:pPr>
            <a:r>
              <a:rPr lang="en-US" sz="1400" dirty="0" smtClean="0"/>
              <a:t>                                                      </a:t>
            </a:r>
            <a:r>
              <a:rPr sz="1400" dirty="0" smtClean="0"/>
              <a:t>Date</a:t>
            </a:r>
            <a:r>
              <a:rPr sz="1400" dirty="0"/>
              <a:t>: 28 September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6"/>
    </mc:Choice>
    <mc:Fallback xmlns="">
      <p:transition spd="slow" advTm="347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959446"/>
            <a:ext cx="8183880" cy="24510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Urban transport challenges: </a:t>
            </a:r>
            <a:r>
              <a:rPr lang="en-US" sz="2000" dirty="0" smtClean="0"/>
              <a:t>Congestion(</a:t>
            </a:r>
            <a:r>
              <a:rPr lang="en-US" sz="2000" dirty="0"/>
              <a:t>overcrowding or heavy traffic that slows </a:t>
            </a:r>
            <a:r>
              <a:rPr lang="en-US" sz="2000" dirty="0" smtClean="0"/>
              <a:t>movement), Pollution</a:t>
            </a:r>
            <a:r>
              <a:rPr lang="en-US" sz="2000" dirty="0"/>
              <a:t>, </a:t>
            </a:r>
            <a:r>
              <a:rPr lang="en-US" sz="2000" dirty="0" smtClean="0"/>
              <a:t>Rising </a:t>
            </a:r>
            <a:r>
              <a:rPr lang="en-US" sz="2000" dirty="0"/>
              <a:t>demand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ITS </a:t>
            </a:r>
            <a:r>
              <a:rPr lang="en-US" sz="2000" dirty="0"/>
              <a:t>as a solution: </a:t>
            </a:r>
            <a:r>
              <a:rPr lang="en-US" sz="2000" dirty="0" smtClean="0"/>
              <a:t>Integrates </a:t>
            </a:r>
            <a:r>
              <a:rPr lang="en-US" sz="2000" dirty="0"/>
              <a:t>engineering, communication &amp; data 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dirty="0"/>
              <a:t>Dublin Bus: ~1,000 buses, 120M passengers annually 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dirty="0"/>
              <a:t>Shift towards ITS for efficiency, reliability &amp; customer service paragraph</a:t>
            </a:r>
            <a:endParaRPr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5134" y="857783"/>
            <a:ext cx="8183880" cy="105156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8"/>
    </mc:Choice>
    <mc:Fallback xmlns="">
      <p:transition spd="slow" advTm="189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977" y="530352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Literature Review (Principles of   ITS)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70429"/>
            <a:ext cx="8183880" cy="4187952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Data </a:t>
            </a:r>
            <a:r>
              <a:rPr lang="en-US" sz="2000" dirty="0"/>
              <a:t>capture &amp; real-time </a:t>
            </a:r>
            <a:r>
              <a:rPr lang="en-US" sz="2000" dirty="0" smtClean="0"/>
              <a:t>feedback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Interoperability </a:t>
            </a:r>
            <a:r>
              <a:rPr lang="en-US" sz="2000" dirty="0"/>
              <a:t>&amp; </a:t>
            </a:r>
            <a:r>
              <a:rPr lang="en-US" sz="2000" dirty="0" smtClean="0"/>
              <a:t>integration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Human-system </a:t>
            </a:r>
            <a:r>
              <a:rPr lang="en-US" sz="2000" dirty="0"/>
              <a:t>interaction (acceptance by drivers, staff, </a:t>
            </a:r>
            <a:r>
              <a:rPr lang="en-US" sz="2000" dirty="0" smtClean="0"/>
              <a:t>passengers)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Scalability </a:t>
            </a:r>
            <a:r>
              <a:rPr lang="en-US" sz="2000" dirty="0"/>
              <a:t>for growing urban </a:t>
            </a:r>
            <a:r>
              <a:rPr lang="en-US" sz="2000" dirty="0" smtClean="0"/>
              <a:t>needs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Standards: </a:t>
            </a:r>
            <a:r>
              <a:rPr lang="en-US" sz="2000" dirty="0" err="1" smtClean="0"/>
              <a:t>Transmodel</a:t>
            </a:r>
            <a:r>
              <a:rPr lang="en-US" sz="2000" dirty="0"/>
              <a:t>, SIRI(Service Interface for Real Time Information)</a:t>
            </a:r>
            <a:endParaRPr lang="en-US" sz="20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8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8"/>
    </mc:Choice>
    <mc:Fallback xmlns="">
      <p:transition spd="slow" advTm="3868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816" y="737157"/>
            <a:ext cx="8183880" cy="1051560"/>
          </a:xfrm>
        </p:spPr>
        <p:txBody>
          <a:bodyPr>
            <a:normAutofit fontScale="90000"/>
          </a:bodyPr>
          <a:lstStyle/>
          <a:p>
            <a:r>
              <a:rPr dirty="0"/>
              <a:t>Literature Review –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816" y="1966585"/>
            <a:ext cx="8183880" cy="326528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sz="2000" dirty="0" smtClean="0"/>
              <a:t>Automatic </a:t>
            </a:r>
            <a:r>
              <a:rPr sz="2000" dirty="0"/>
              <a:t>Vehicle Location (AVL): real-time tracking &amp; scheduling</a:t>
            </a:r>
          </a:p>
          <a:p>
            <a:pPr algn="just">
              <a:lnSpc>
                <a:spcPct val="150000"/>
              </a:lnSpc>
            </a:pPr>
            <a:r>
              <a:rPr sz="2000" dirty="0" smtClean="0"/>
              <a:t> </a:t>
            </a:r>
            <a:r>
              <a:rPr sz="2000" dirty="0"/>
              <a:t>Real-Time Passenger Information (RTPI): apps, bus-stop displays</a:t>
            </a:r>
          </a:p>
          <a:p>
            <a:pPr algn="just">
              <a:lnSpc>
                <a:spcPct val="150000"/>
              </a:lnSpc>
            </a:pPr>
            <a:r>
              <a:rPr sz="2000" dirty="0" smtClean="0"/>
              <a:t> </a:t>
            </a:r>
            <a:r>
              <a:rPr sz="2000" dirty="0"/>
              <a:t>Electronic Ticket Machines (ETMs): smartcards, revenue </a:t>
            </a:r>
            <a:r>
              <a:rPr sz="2000" dirty="0" smtClean="0"/>
              <a:t>protection</a:t>
            </a:r>
            <a:r>
              <a:rPr lang="en-US" sz="2000" dirty="0" smtClean="0"/>
              <a:t>(</a:t>
            </a:r>
            <a:r>
              <a:rPr lang="en-US" sz="2000" dirty="0"/>
              <a:t>all passengers pay their fares</a:t>
            </a:r>
            <a:r>
              <a:rPr lang="en-US" sz="2000" dirty="0" smtClean="0"/>
              <a:t>)</a:t>
            </a:r>
            <a:endParaRPr sz="2000" dirty="0"/>
          </a:p>
          <a:p>
            <a:pPr algn="just">
              <a:lnSpc>
                <a:spcPct val="150000"/>
              </a:lnSpc>
            </a:pPr>
            <a:r>
              <a:rPr sz="2000" dirty="0" smtClean="0"/>
              <a:t> </a:t>
            </a:r>
            <a:r>
              <a:rPr sz="2000" dirty="0"/>
              <a:t>Improved internal communication &amp; safety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0"/>
    </mc:Choice>
    <mc:Fallback xmlns="">
      <p:transition spd="slow" advTm="348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186" y="530352"/>
            <a:ext cx="8183880" cy="1051560"/>
          </a:xfrm>
        </p:spPr>
        <p:txBody>
          <a:bodyPr/>
          <a:lstStyle/>
          <a:p>
            <a:r>
              <a:rPr dirty="0"/>
              <a:t>International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23749"/>
            <a:ext cx="8183880" cy="418795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London: </a:t>
            </a:r>
            <a:r>
              <a:rPr lang="en-US" sz="2000" dirty="0" smtClean="0"/>
              <a:t>Real Time Passenger Information(</a:t>
            </a:r>
            <a:r>
              <a:rPr sz="2000" dirty="0" smtClean="0"/>
              <a:t>RTPI</a:t>
            </a:r>
            <a:r>
              <a:rPr lang="en-US" sz="2000" dirty="0" smtClean="0"/>
              <a:t>)</a:t>
            </a:r>
            <a:r>
              <a:rPr sz="2000" dirty="0" smtClean="0"/>
              <a:t> </a:t>
            </a:r>
            <a:r>
              <a:rPr sz="2000" dirty="0"/>
              <a:t>+ </a:t>
            </a:r>
            <a:r>
              <a:rPr sz="2000" dirty="0" smtClean="0"/>
              <a:t>Oyster</a:t>
            </a:r>
            <a:r>
              <a:rPr lang="en-US" sz="2000" dirty="0" smtClean="0"/>
              <a:t>(a smart card used in </a:t>
            </a:r>
            <a:r>
              <a:rPr lang="en-US" sz="2000" dirty="0" err="1" smtClean="0"/>
              <a:t>london</a:t>
            </a:r>
            <a:r>
              <a:rPr lang="en-US" sz="2000" dirty="0" smtClean="0"/>
              <a:t> for public transport fares )</a:t>
            </a:r>
            <a:r>
              <a:rPr sz="2000" dirty="0" smtClean="0"/>
              <a:t>, </a:t>
            </a:r>
            <a:r>
              <a:rPr sz="2000" dirty="0"/>
              <a:t>Traffic Signal Priority → higher </a:t>
            </a:r>
            <a:r>
              <a:rPr sz="2000" dirty="0" smtClean="0"/>
              <a:t>ridership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Singapore: </a:t>
            </a:r>
            <a:r>
              <a:rPr sz="2000" dirty="0" smtClean="0"/>
              <a:t>ERP</a:t>
            </a:r>
            <a:r>
              <a:rPr lang="en-US" sz="2000" dirty="0" smtClean="0"/>
              <a:t>(</a:t>
            </a:r>
            <a:r>
              <a:rPr lang="en-US" sz="2000" dirty="0"/>
              <a:t>Electronic Road Pricing</a:t>
            </a:r>
            <a:r>
              <a:rPr lang="en-US" sz="2000" dirty="0" smtClean="0"/>
              <a:t>)</a:t>
            </a:r>
            <a:r>
              <a:rPr sz="2000" dirty="0" smtClean="0"/>
              <a:t>, </a:t>
            </a:r>
            <a:r>
              <a:rPr sz="2000" dirty="0"/>
              <a:t>multimodal </a:t>
            </a:r>
            <a:r>
              <a:rPr sz="2000" dirty="0" smtClean="0"/>
              <a:t>smartcard</a:t>
            </a:r>
            <a:r>
              <a:rPr lang="en-US" sz="2000" dirty="0" smtClean="0"/>
              <a:t>(transport cards)</a:t>
            </a:r>
            <a:r>
              <a:rPr sz="2000" dirty="0" smtClean="0"/>
              <a:t>, </a:t>
            </a:r>
            <a:r>
              <a:rPr sz="2000" dirty="0"/>
              <a:t>predictive </a:t>
            </a:r>
            <a:r>
              <a:rPr sz="2000" dirty="0" smtClean="0"/>
              <a:t>analytics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Tokyo: Smartcards </a:t>
            </a:r>
            <a:r>
              <a:rPr sz="2000" dirty="0" smtClean="0"/>
              <a:t>+</a:t>
            </a:r>
            <a:r>
              <a:rPr lang="en-US" sz="2000" dirty="0" smtClean="0"/>
              <a:t> </a:t>
            </a:r>
            <a:r>
              <a:rPr lang="en-US" sz="2000" dirty="0"/>
              <a:t>Real Time Passenger Information(</a:t>
            </a:r>
            <a:r>
              <a:rPr sz="2000" dirty="0" smtClean="0"/>
              <a:t> </a:t>
            </a:r>
            <a:r>
              <a:rPr sz="2000" dirty="0"/>
              <a:t>RTPI </a:t>
            </a:r>
            <a:r>
              <a:rPr lang="en-US" sz="2000" dirty="0" smtClean="0"/>
              <a:t>)</a:t>
            </a:r>
            <a:r>
              <a:rPr sz="2000" dirty="0" smtClean="0"/>
              <a:t>→ </a:t>
            </a:r>
            <a:r>
              <a:rPr sz="2000" dirty="0"/>
              <a:t>reduced congestion, optimized </a:t>
            </a:r>
            <a:r>
              <a:rPr sz="2000" dirty="0" smtClean="0"/>
              <a:t>schedules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Stockholm: Open data standards for multimodal integration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0"/>
    </mc:Choice>
    <mc:Fallback xmlns="">
      <p:transition spd="slow" advTm="448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37" y="662000"/>
            <a:ext cx="8183880" cy="1051560"/>
          </a:xfrm>
        </p:spPr>
        <p:txBody>
          <a:bodyPr/>
          <a:lstStyle/>
          <a:p>
            <a:r>
              <a:rPr dirty="0"/>
              <a:t>Challenges of ITS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951554"/>
            <a:ext cx="8183880" cy="41879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High </a:t>
            </a:r>
            <a:r>
              <a:rPr sz="2000" dirty="0"/>
              <a:t>initial cost &amp; </a:t>
            </a:r>
            <a:r>
              <a:rPr sz="2000" dirty="0" smtClean="0"/>
              <a:t>maintenance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Integration </a:t>
            </a:r>
            <a:r>
              <a:rPr sz="2000" dirty="0"/>
              <a:t>issues with legacy </a:t>
            </a:r>
            <a:r>
              <a:rPr sz="2000" dirty="0" smtClean="0"/>
              <a:t>systems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Staff/union resistance </a:t>
            </a:r>
            <a:r>
              <a:rPr sz="2000" dirty="0" smtClean="0"/>
              <a:t>(</a:t>
            </a:r>
            <a:r>
              <a:rPr lang="en-US" sz="2000" dirty="0" smtClean="0"/>
              <a:t>Opposition of staff union</a:t>
            </a:r>
            <a:r>
              <a:rPr sz="2000" dirty="0" smtClean="0"/>
              <a:t>)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Technical limitations </a:t>
            </a:r>
            <a:r>
              <a:rPr sz="2000" dirty="0" smtClean="0"/>
              <a:t>(</a:t>
            </a:r>
            <a:r>
              <a:rPr lang="en-US" sz="2000" dirty="0"/>
              <a:t>Automatic Vehicle </a:t>
            </a:r>
            <a:r>
              <a:rPr lang="en-US" sz="2000" dirty="0" smtClean="0"/>
              <a:t>Location</a:t>
            </a:r>
            <a:r>
              <a:rPr lang="en-US" sz="2000" dirty="0"/>
              <a:t> </a:t>
            </a:r>
            <a:r>
              <a:rPr sz="2000" dirty="0" smtClean="0"/>
              <a:t>20s </a:t>
            </a:r>
            <a:r>
              <a:rPr sz="2000" dirty="0"/>
              <a:t>delay</a:t>
            </a:r>
            <a:r>
              <a:rPr sz="2000" dirty="0" smtClean="0"/>
              <a:t>)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Policy &amp; institutional </a:t>
            </a:r>
            <a:r>
              <a:rPr sz="2000" dirty="0" smtClean="0"/>
              <a:t>misalignment</a:t>
            </a:r>
            <a:r>
              <a:rPr lang="en-US" sz="2000" dirty="0" smtClean="0"/>
              <a:t>(</a:t>
            </a:r>
            <a:r>
              <a:rPr lang="en-US" sz="2000" dirty="0"/>
              <a:t>a situation where policies, regulations, or strategic goals of different organizations or institutions are not aligned</a:t>
            </a:r>
            <a:r>
              <a:rPr lang="en-US" sz="2000" dirty="0" smtClean="0"/>
              <a:t>)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6"/>
    </mc:Choice>
    <mc:Fallback xmlns="">
      <p:transition spd="slow" advTm="3486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03421"/>
            <a:ext cx="8183880" cy="1051560"/>
          </a:xfrm>
        </p:spPr>
        <p:txBody>
          <a:bodyPr/>
          <a:lstStyle/>
          <a:p>
            <a:r>
              <a:rPr dirty="0"/>
              <a:t>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08007"/>
            <a:ext cx="8183880" cy="41879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AI &amp; ML integration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Reinforcement </a:t>
            </a:r>
            <a:r>
              <a:rPr lang="en-US" sz="2000" dirty="0"/>
              <a:t>learning → dynamic </a:t>
            </a:r>
            <a:r>
              <a:rPr lang="en-US" sz="2000" dirty="0" smtClean="0"/>
              <a:t>scheduling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Neural </a:t>
            </a:r>
            <a:r>
              <a:rPr lang="en-US" sz="2000" dirty="0"/>
              <a:t>networks → demand </a:t>
            </a:r>
            <a:r>
              <a:rPr lang="en-US" sz="2000" dirty="0" smtClean="0"/>
              <a:t>forecasting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 smtClean="0"/>
              <a:t>IoT</a:t>
            </a:r>
            <a:r>
              <a:rPr lang="en-US" sz="2000" dirty="0" smtClean="0"/>
              <a:t> </a:t>
            </a:r>
            <a:r>
              <a:rPr lang="en-US" sz="2000" dirty="0"/>
              <a:t>sensors → predictive maintenance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Shift from reactive to prescriptive </a:t>
            </a:r>
            <a:r>
              <a:rPr lang="en-US" sz="2000" dirty="0" smtClean="0"/>
              <a:t>ITS(</a:t>
            </a:r>
            <a:r>
              <a:rPr lang="en-US" sz="2000" dirty="0"/>
              <a:t>From fixing problems after they happen → to predicting and preventing them with </a:t>
            </a:r>
            <a:r>
              <a:rPr lang="en-US" sz="2000" dirty="0" smtClean="0"/>
              <a:t>ITS</a:t>
            </a:r>
            <a:r>
              <a:rPr lang="en-US" sz="2000"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"/>
    </mc:Choice>
    <mc:Fallback xmlns="">
      <p:transition spd="slow" advTm="232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38" y="536741"/>
            <a:ext cx="8183880" cy="1051560"/>
          </a:xfrm>
        </p:spPr>
        <p:txBody>
          <a:bodyPr>
            <a:normAutofit fontScale="90000"/>
          </a:bodyPr>
          <a:lstStyle/>
          <a:p>
            <a:r>
              <a:rPr dirty="0"/>
              <a:t>Dublin Bus ITS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33059"/>
            <a:ext cx="8183880" cy="41879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Electronic Ticket </a:t>
            </a:r>
            <a:r>
              <a:rPr lang="en-US" sz="2000" dirty="0" smtClean="0"/>
              <a:t>Machines </a:t>
            </a:r>
            <a:r>
              <a:rPr sz="2000" dirty="0" smtClean="0"/>
              <a:t>(2005</a:t>
            </a:r>
            <a:r>
              <a:rPr sz="2000" dirty="0"/>
              <a:t>): cashless </a:t>
            </a:r>
            <a:r>
              <a:rPr sz="2000" dirty="0" smtClean="0"/>
              <a:t>fares,</a:t>
            </a:r>
            <a:r>
              <a:rPr lang="en-US" sz="2000" dirty="0" smtClean="0"/>
              <a:t> </a:t>
            </a:r>
            <a:r>
              <a:rPr sz="2000" dirty="0" smtClean="0"/>
              <a:t>smartcards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lang="en-US" sz="2000" dirty="0"/>
              <a:t>Automatic Vehicle Location and </a:t>
            </a:r>
            <a:r>
              <a:rPr lang="en-US" sz="2000" dirty="0" smtClean="0"/>
              <a:t>Controls</a:t>
            </a:r>
            <a:r>
              <a:rPr sz="2000" dirty="0" smtClean="0"/>
              <a:t> </a:t>
            </a:r>
            <a:r>
              <a:rPr sz="2000" dirty="0"/>
              <a:t>(2010): GPS tracking, 20s </a:t>
            </a:r>
            <a:r>
              <a:rPr sz="2000" dirty="0" smtClean="0"/>
              <a:t>polling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lang="en-US" sz="2000" dirty="0" smtClean="0"/>
              <a:t>Real Time Passenger Information</a:t>
            </a:r>
            <a:r>
              <a:rPr sz="2000" dirty="0" smtClean="0"/>
              <a:t> </a:t>
            </a:r>
            <a:r>
              <a:rPr sz="2000" dirty="0"/>
              <a:t>(2011): real-time arrival </a:t>
            </a:r>
            <a:r>
              <a:rPr sz="2000" dirty="0" smtClean="0"/>
              <a:t>info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Communication systems: </a:t>
            </a:r>
            <a:r>
              <a:rPr lang="en-US" sz="2000" dirty="0" smtClean="0"/>
              <a:t>D</a:t>
            </a:r>
            <a:r>
              <a:rPr sz="2000" dirty="0" smtClean="0"/>
              <a:t>ispatcher-radio integration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Back-office systems: </a:t>
            </a:r>
            <a:r>
              <a:rPr lang="en-US" sz="2000" dirty="0" smtClean="0"/>
              <a:t>P</a:t>
            </a:r>
            <a:r>
              <a:rPr sz="2000" dirty="0" smtClean="0"/>
              <a:t>lanning </a:t>
            </a:r>
            <a:r>
              <a:rPr sz="2000" dirty="0"/>
              <a:t>&amp; </a:t>
            </a:r>
            <a:r>
              <a:rPr lang="en-US" sz="2000" dirty="0" smtClean="0"/>
              <a:t>P</a:t>
            </a:r>
            <a:r>
              <a:rPr sz="2000" dirty="0" smtClean="0"/>
              <a:t>erformance </a:t>
            </a:r>
            <a:r>
              <a:rPr sz="2000" dirty="0"/>
              <a:t>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"/>
    </mc:Choice>
    <mc:Fallback xmlns="">
      <p:transition spd="slow" advTm="19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8D3E"/>
                </a:solidFill>
              </a:rPr>
              <a:t>Outcomes</a:t>
            </a:r>
            <a:endParaRPr lang="en-US" sz="3600" dirty="0">
              <a:solidFill>
                <a:srgbClr val="FF8D3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8D3E"/>
                </a:solidFill>
              </a:rPr>
              <a:t>Limitations</a:t>
            </a:r>
            <a:endParaRPr lang="en-US" sz="3600" dirty="0">
              <a:solidFill>
                <a:srgbClr val="FF8D3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R</a:t>
            </a:r>
            <a:r>
              <a:rPr sz="2000" dirty="0" smtClean="0"/>
              <a:t>educed fraud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I</a:t>
            </a:r>
            <a:r>
              <a:rPr sz="2000" dirty="0" smtClean="0"/>
              <a:t>mproved cust</a:t>
            </a:r>
            <a:r>
              <a:rPr lang="en-US" sz="2000" dirty="0" smtClean="0"/>
              <a:t>o</a:t>
            </a:r>
            <a:r>
              <a:rPr sz="2000" dirty="0" smtClean="0"/>
              <a:t>mer satisfaction</a:t>
            </a:r>
            <a:endParaRPr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9144" y="1247384"/>
            <a:ext cx="3931920" cy="34899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/>
              <a:t>Real-Time Passenger </a:t>
            </a:r>
            <a:r>
              <a:rPr lang="en-US" sz="2000" dirty="0" smtClean="0"/>
              <a:t>Information improves </a:t>
            </a:r>
            <a:r>
              <a:rPr lang="en-US" sz="2000" dirty="0"/>
              <a:t>perception, not </a:t>
            </a:r>
            <a:r>
              <a:rPr lang="en-US" sz="2000" dirty="0" smtClean="0"/>
              <a:t>punctuality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AVL </a:t>
            </a:r>
            <a:r>
              <a:rPr lang="en-US" sz="2000" dirty="0"/>
              <a:t>delay prevents real-time </a:t>
            </a:r>
            <a:r>
              <a:rPr lang="en-US" sz="2000" dirty="0" smtClean="0"/>
              <a:t>TSP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dirty="0"/>
              <a:t>Limited analytics due to poor </a:t>
            </a:r>
            <a:r>
              <a:rPr lang="en-US" sz="2000" dirty="0" smtClean="0"/>
              <a:t>integration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lang="en-US" sz="2000" dirty="0"/>
              <a:t>Pilot TSP &amp; V2X limited by funding &amp; standards</a:t>
            </a:r>
          </a:p>
          <a:p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1"/>
    </mc:Choice>
    <mc:Fallback xmlns="">
      <p:transition spd="slow" advTm="71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53317"/>
            <a:ext cx="8183880" cy="1051560"/>
          </a:xfrm>
        </p:spPr>
        <p:txBody>
          <a:bodyPr/>
          <a:lstStyle/>
          <a:p>
            <a:r>
              <a:rPr dirty="0">
                <a:solidFill>
                  <a:srgbClr val="FF8D3E"/>
                </a:solidFill>
              </a:rPr>
              <a:t>Challenges vs.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09135"/>
            <a:ext cx="8183880" cy="442820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/>
              <a:t>           </a:t>
            </a:r>
            <a:r>
              <a:rPr sz="2000" dirty="0" smtClean="0"/>
              <a:t>Challenges</a:t>
            </a:r>
            <a:r>
              <a:rPr sz="2000" dirty="0"/>
              <a:t>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Congestion</a:t>
            </a:r>
            <a:r>
              <a:rPr sz="2000" dirty="0"/>
              <a:t>, unpredictable </a:t>
            </a:r>
            <a:r>
              <a:rPr sz="2000" dirty="0" smtClean="0"/>
              <a:t>delays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Weak governance</a:t>
            </a:r>
            <a:r>
              <a:rPr sz="2000" dirty="0"/>
              <a:t>, union </a:t>
            </a:r>
            <a:r>
              <a:rPr sz="2000" dirty="0" smtClean="0"/>
              <a:t>resistance</a:t>
            </a:r>
            <a:r>
              <a:rPr lang="en-US" sz="2000" dirty="0" smtClean="0"/>
              <a:t>(Opposition from labor unions that may hinder change or innovation.)</a:t>
            </a:r>
            <a:endParaRPr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</a:t>
            </a:r>
            <a:r>
              <a:rPr sz="2000" dirty="0" smtClean="0"/>
              <a:t>Benefits</a:t>
            </a:r>
            <a:r>
              <a:rPr sz="2000" dirty="0"/>
              <a:t>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Proactive dispatching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Improved </a:t>
            </a:r>
            <a:r>
              <a:rPr sz="2000" dirty="0"/>
              <a:t>customer </a:t>
            </a:r>
            <a:r>
              <a:rPr sz="2000" dirty="0" smtClean="0"/>
              <a:t>satisfaction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Smart </a:t>
            </a:r>
            <a:r>
              <a:rPr sz="2000" dirty="0"/>
              <a:t>revenue </a:t>
            </a:r>
            <a:r>
              <a:rPr sz="2000" dirty="0" smtClean="0"/>
              <a:t>collection</a:t>
            </a:r>
            <a:endParaRPr lang="en-US" sz="20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 </a:t>
            </a:r>
            <a:r>
              <a:rPr sz="2000" dirty="0"/>
              <a:t>Evidence-based planning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"/>
    </mc:Choice>
    <mc:Fallback xmlns="">
      <p:transition spd="slow" advTm="389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30352"/>
            <a:ext cx="8183880" cy="1051560"/>
          </a:xfrm>
        </p:spPr>
        <p:txBody>
          <a:bodyPr>
            <a:normAutofit fontScale="90000"/>
          </a:bodyPr>
          <a:lstStyle/>
          <a:p>
            <a:r>
              <a:rPr dirty="0"/>
              <a:t>Comparison with International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20325"/>
            <a:ext cx="8183880" cy="41879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Dublin</a:t>
            </a:r>
            <a:r>
              <a:rPr sz="2000" dirty="0"/>
              <a:t>: </a:t>
            </a:r>
            <a:r>
              <a:rPr lang="en-US" sz="2000" dirty="0" smtClean="0"/>
              <a:t>F</a:t>
            </a:r>
            <a:r>
              <a:rPr sz="2000" dirty="0" smtClean="0"/>
              <a:t>ragmented </a:t>
            </a:r>
            <a:r>
              <a:rPr sz="2000" dirty="0"/>
              <a:t>governance, </a:t>
            </a:r>
            <a:r>
              <a:rPr lang="en-US" sz="2000" dirty="0" smtClean="0"/>
              <a:t>S</a:t>
            </a:r>
            <a:r>
              <a:rPr sz="2000" dirty="0" smtClean="0"/>
              <a:t>low </a:t>
            </a:r>
            <a:r>
              <a:rPr sz="2000" dirty="0"/>
              <a:t>AVL, </a:t>
            </a:r>
            <a:r>
              <a:rPr lang="en-US" sz="2000" dirty="0" smtClean="0"/>
              <a:t>W</a:t>
            </a:r>
            <a:r>
              <a:rPr sz="2000" dirty="0" smtClean="0"/>
              <a:t>eak </a:t>
            </a:r>
            <a:r>
              <a:rPr sz="2000" dirty="0"/>
              <a:t>integration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Global leaders: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London</a:t>
            </a:r>
            <a:r>
              <a:rPr sz="2000" dirty="0"/>
              <a:t>: </a:t>
            </a:r>
            <a:r>
              <a:rPr sz="2000" dirty="0" smtClean="0"/>
              <a:t>TSP</a:t>
            </a:r>
            <a:r>
              <a:rPr lang="en-US" sz="2000" dirty="0"/>
              <a:t>(Travelling Salesman Problem)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Singapore</a:t>
            </a:r>
            <a:r>
              <a:rPr sz="2000" dirty="0"/>
              <a:t>: </a:t>
            </a:r>
            <a:r>
              <a:rPr lang="en-US" sz="2000" dirty="0" smtClean="0"/>
              <a:t>P</a:t>
            </a:r>
            <a:r>
              <a:rPr sz="2000" dirty="0" smtClean="0"/>
              <a:t>olicy-driven ITS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sz="2000" dirty="0" smtClean="0"/>
              <a:t> </a:t>
            </a:r>
            <a:r>
              <a:rPr sz="2000" dirty="0"/>
              <a:t>Stockholm: </a:t>
            </a:r>
            <a:r>
              <a:rPr lang="en-US" sz="2000" dirty="0" smtClean="0"/>
              <a:t>O</a:t>
            </a:r>
            <a:r>
              <a:rPr sz="2000" dirty="0" smtClean="0"/>
              <a:t>pen </a:t>
            </a:r>
            <a:r>
              <a:rPr lang="en-US" sz="2000" dirty="0" smtClean="0"/>
              <a:t>S</a:t>
            </a:r>
            <a:r>
              <a:rPr sz="2000" dirty="0" smtClean="0"/>
              <a:t>tandards</a:t>
            </a:r>
            <a:endParaRPr sz="2000" dirty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Gaps: </a:t>
            </a:r>
            <a:r>
              <a:rPr lang="en-US" sz="2000" dirty="0" smtClean="0"/>
              <a:t>R</a:t>
            </a:r>
            <a:r>
              <a:rPr sz="2000" dirty="0" smtClean="0"/>
              <a:t>eal-time </a:t>
            </a:r>
            <a:r>
              <a:rPr sz="2000" dirty="0"/>
              <a:t>data, </a:t>
            </a:r>
            <a:r>
              <a:rPr lang="en-US" sz="2000" dirty="0"/>
              <a:t>Connectivity</a:t>
            </a:r>
            <a:r>
              <a:rPr sz="2000" dirty="0" smtClean="0"/>
              <a:t>, </a:t>
            </a:r>
            <a:r>
              <a:rPr lang="en-US" sz="2000" dirty="0" smtClean="0"/>
              <a:t>P</a:t>
            </a:r>
            <a:r>
              <a:rPr sz="2000" dirty="0" smtClean="0"/>
              <a:t>olicy </a:t>
            </a:r>
            <a:r>
              <a:rPr sz="2000" dirty="0"/>
              <a:t>alignment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"/>
    </mc:Choice>
    <mc:Fallback xmlns="">
      <p:transition spd="slow" advTm="198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28473"/>
            <a:ext cx="8183880" cy="1051560"/>
          </a:xfrm>
        </p:spPr>
        <p:txBody>
          <a:bodyPr/>
          <a:lstStyle/>
          <a:p>
            <a:r>
              <a:rPr dirty="0"/>
              <a:t>Traffic Signal Priority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82413"/>
            <a:ext cx="8183880" cy="418795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dirty="0" smtClean="0"/>
              <a:t> </a:t>
            </a:r>
            <a:r>
              <a:rPr sz="2000" dirty="0"/>
              <a:t>Reduces bus delays at </a:t>
            </a:r>
            <a:r>
              <a:rPr sz="2000" dirty="0" smtClean="0"/>
              <a:t>intersections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/>
              <a:t> </a:t>
            </a:r>
            <a:r>
              <a:rPr sz="2000" dirty="0" smtClean="0"/>
              <a:t>Dublin’s </a:t>
            </a:r>
            <a:r>
              <a:rPr sz="2000" dirty="0"/>
              <a:t>pilots: </a:t>
            </a:r>
            <a:r>
              <a:rPr lang="en-US" sz="2000" dirty="0" smtClean="0"/>
              <a:t>P</a:t>
            </a:r>
            <a:r>
              <a:rPr sz="2000" dirty="0" smtClean="0"/>
              <a:t>ositive </a:t>
            </a:r>
            <a:r>
              <a:rPr sz="2000" dirty="0"/>
              <a:t>but limited </a:t>
            </a:r>
            <a:r>
              <a:rPr sz="2000" dirty="0" smtClean="0"/>
              <a:t>rollout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Barriers: AVL delay, funding, </a:t>
            </a:r>
            <a:r>
              <a:rPr sz="2000" dirty="0" smtClean="0"/>
              <a:t>infrastructure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Future: AI-driven prioritization + V2X (5G networks)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"/>
    </mc:Choice>
    <mc:Fallback xmlns="">
      <p:transition spd="slow" advTm="17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40999"/>
            <a:ext cx="8183880" cy="1051560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594939"/>
            <a:ext cx="8183880" cy="418795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dirty="0" smtClean="0"/>
              <a:t> </a:t>
            </a:r>
            <a:r>
              <a:rPr sz="2400" dirty="0"/>
              <a:t>Deploy AI/ML for demand forecasting &amp; </a:t>
            </a:r>
            <a:r>
              <a:rPr sz="2400" dirty="0" smtClean="0"/>
              <a:t>scheduling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400" dirty="0" smtClean="0"/>
              <a:t>Use </a:t>
            </a:r>
            <a:r>
              <a:rPr sz="2400" dirty="0" err="1"/>
              <a:t>IoT</a:t>
            </a:r>
            <a:r>
              <a:rPr sz="2400" dirty="0"/>
              <a:t> for predictive </a:t>
            </a:r>
            <a:r>
              <a:rPr sz="2400" dirty="0" smtClean="0"/>
              <a:t>maintenance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400" dirty="0" smtClean="0"/>
              <a:t> </a:t>
            </a:r>
            <a:r>
              <a:rPr sz="2400" dirty="0"/>
              <a:t>Expand Mobility-as-a-Service (</a:t>
            </a:r>
            <a:r>
              <a:rPr sz="2400" dirty="0" err="1"/>
              <a:t>MaaS</a:t>
            </a:r>
            <a:r>
              <a:rPr sz="2400" dirty="0"/>
              <a:t>) </a:t>
            </a:r>
            <a:r>
              <a:rPr sz="2400" dirty="0" smtClean="0"/>
              <a:t>integration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400" dirty="0" smtClean="0"/>
              <a:t>Enhance </a:t>
            </a:r>
            <a:r>
              <a:rPr sz="2400" dirty="0"/>
              <a:t>passenger communication (apps, multimodal planning</a:t>
            </a:r>
            <a:r>
              <a:rPr sz="2400" dirty="0" smtClean="0"/>
              <a:t>)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400" dirty="0" smtClean="0"/>
              <a:t> </a:t>
            </a:r>
            <a:r>
              <a:rPr sz="2400" dirty="0"/>
              <a:t>Invest in scalable TSP + 5G-based V2I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"/>
    </mc:Choice>
    <mc:Fallback xmlns="">
      <p:transition spd="slow" advTm="36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186" y="474110"/>
            <a:ext cx="8183880" cy="105156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186" y="1757903"/>
            <a:ext cx="8183880" cy="41879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ITS </a:t>
            </a:r>
            <a:r>
              <a:rPr sz="2000" dirty="0"/>
              <a:t>improved Dublin Bus efficiency &amp; customer </a:t>
            </a:r>
            <a:r>
              <a:rPr sz="2000" dirty="0" smtClean="0"/>
              <a:t>satisfaction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Still </a:t>
            </a:r>
            <a:r>
              <a:rPr sz="2000" dirty="0" smtClean="0"/>
              <a:t>lags</a:t>
            </a:r>
            <a:r>
              <a:rPr lang="en-US" sz="2000" dirty="0" smtClean="0"/>
              <a:t>(behind)</a:t>
            </a:r>
            <a:r>
              <a:rPr sz="2000" dirty="0" smtClean="0"/>
              <a:t> </a:t>
            </a:r>
            <a:r>
              <a:rPr sz="2000" dirty="0"/>
              <a:t>behind global best </a:t>
            </a:r>
            <a:r>
              <a:rPr sz="2000" dirty="0" smtClean="0"/>
              <a:t>practices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AI</a:t>
            </a:r>
            <a:r>
              <a:rPr sz="2000" dirty="0"/>
              <a:t>, ML, </a:t>
            </a:r>
            <a:r>
              <a:rPr sz="2000" dirty="0" err="1"/>
              <a:t>MaaS</a:t>
            </a:r>
            <a:r>
              <a:rPr sz="2000" dirty="0"/>
              <a:t> → opportunity to modernize &amp; reach global </a:t>
            </a:r>
            <a:r>
              <a:rPr sz="2000" dirty="0" smtClean="0"/>
              <a:t>standards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sz="2000" dirty="0" smtClean="0"/>
              <a:t> </a:t>
            </a:r>
            <a:r>
              <a:rPr sz="2000" dirty="0"/>
              <a:t>Dublin Bus can become a smart, sustainable transport leader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"/>
    </mc:Choice>
    <mc:Fallback xmlns="">
      <p:transition spd="slow" advTm="36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258</TotalTime>
  <Words>648</Words>
  <Application>Microsoft Office PowerPoint</Application>
  <PresentationFormat>On-screen Show (4:3)</PresentationFormat>
  <Paragraphs>91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Aspect</vt:lpstr>
      <vt:lpstr>        Case Study: Dublin Bus and Intelligent Transportation Systems (ITS)</vt:lpstr>
      <vt:lpstr>Introduction</vt:lpstr>
      <vt:lpstr> Literature Review (Principles of   ITS)</vt:lpstr>
      <vt:lpstr>Literature Review – ITS Applications</vt:lpstr>
      <vt:lpstr>International Case Studies</vt:lpstr>
      <vt:lpstr>Challenges of ITS Adoption</vt:lpstr>
      <vt:lpstr>Emerging Trends</vt:lpstr>
      <vt:lpstr>Dublin Bus ITS Implementation</vt:lpstr>
      <vt:lpstr>PowerPoint Presentation</vt:lpstr>
      <vt:lpstr>Challenges vs. Benefits</vt:lpstr>
      <vt:lpstr>Comparison with International Standards</vt:lpstr>
      <vt:lpstr>Traffic Signal Priority (TSP)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Case Study: Dublin Bus and Intelligent Transportation Systems (ITS)</dc:title>
  <dc:subject/>
  <dc:creator/>
  <cp:keywords/>
  <dc:description>generated using python-pptx</dc:description>
  <cp:lastModifiedBy>DELL</cp:lastModifiedBy>
  <cp:revision>54</cp:revision>
  <dcterms:created xsi:type="dcterms:W3CDTF">2013-01-27T09:14:16Z</dcterms:created>
  <dcterms:modified xsi:type="dcterms:W3CDTF">2025-09-27T23:39:50Z</dcterms:modified>
  <cp:category/>
</cp:coreProperties>
</file>